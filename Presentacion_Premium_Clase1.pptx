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s_cover_1785838791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entury Gothic"/>
              </a:rPr>
              <a:t>Introducción a la Ciencia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CCFF"/>
                </a:solidFill>
                <a:latin typeface="Century Gothic"/>
              </a:rPr>
              <a:t>Clase 1: Reglas, Herramientas y Visión a Futuro</a:t>
            </a:r>
          </a:p>
          <a:p>
            <a:pPr algn="ctr"/>
            <a:r>
              <a:rPr sz="3000" b="0">
                <a:solidFill>
                  <a:srgbClr val="00CCFF"/>
                </a:solidFill>
                <a:latin typeface="Century Gothic"/>
              </a:rPr>
              <a:t>Docente: Dudbil Olvasada Pabon Riaño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FFCC"/>
                </a:solidFill>
                <a:latin typeface="Century Gothic"/>
              </a:rPr>
              <a:t>Reglas y Acuerdos de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Century Gothic"/>
              </a:defRPr>
            </a:pPr>
            <a:r>
              <a:t>Para un ambiente de aprendizaje seguro y productivo: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Puntualidad: Iniciamos a las 7:00 AM en punto.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Descansos Cognitivos: Haremos una pausa para evitar fatiga.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Estrategia EMI: Tendremos inmersiones de 10 min en inglés.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Respeto: Ambiente seguro para compartir ideas y debatir.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Comunidad: Utilizaremos un Espacio en Gmail para dudas.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FFCC"/>
                </a:solidFill>
                <a:latin typeface="Century Gothic"/>
              </a:rPr>
              <a:t>🇬🇧 EMI Strategy: 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Century Gothic"/>
              </a:defRPr>
            </a:pPr>
            <a:r>
              <a:t>Let's activate our English!</a:t>
            </a:r>
          </a:p>
          <a:p>
            <a:br/>
            <a:pPr>
              <a:defRPr sz="3200" b="0">
                <a:solidFill>
                  <a:srgbClr val="DCDCDC"/>
                </a:solidFill>
                <a:latin typeface="Century Gothic"/>
              </a:defRPr>
            </a:pPr>
            <a:r>
              <a:t>Question:</a:t>
            </a:r>
          </a:p>
          <a:p>
            <a:pPr lvl="1">
              <a:defRPr sz="4000" b="1">
                <a:solidFill>
                  <a:srgbClr val="00CCFF"/>
                </a:solidFill>
                <a:latin typeface="Century Gothic"/>
              </a:defRPr>
            </a:pPr>
            <a:r>
              <a:t>What is the first word that comes to your mind when you hear 'Data Science'?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FFCC"/>
                </a:solidFill>
                <a:latin typeface="Century Gothic"/>
              </a:rPr>
              <a:t>🇬🇧 EMI Strategy: Video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Century Gothic"/>
              </a:defRPr>
            </a:pPr>
            <a:r>
              <a:t>Objectives: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1. Learn key technical vocabulary.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2. Understand the core concept of Data Science.</a:t>
            </a:r>
          </a:p>
          <a:p>
            <a:br/>
            <a:pPr>
              <a:defRPr sz="2800" b="1">
                <a:solidFill>
                  <a:srgbClr val="00FFCC"/>
                </a:solidFill>
                <a:latin typeface="Century Gothic"/>
              </a:defRPr>
            </a:pPr>
            <a:r>
              <a:t>Video: What is Data Science?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Link: https://www.youtube.com/watch?v=xN6dbHSbohk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FFCC"/>
                </a:solidFill>
                <a:latin typeface="Century Gothic"/>
              </a:rPr>
              <a:t>🇬🇧 EMI Strategy: Vocabulary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Century Gothic"/>
              </a:defRPr>
            </a:pPr>
            <a:r>
              <a:t>Key terms from the video: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Data: Raw facts and statistics.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Insights: Deep understanding or discoveries.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Machine Learning: Algorithms that learn from data.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Predict: To say what will happen in the future.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FFCC"/>
                </a:solidFill>
                <a:latin typeface="Century Gothic"/>
              </a:rPr>
              <a:t>🇬🇧 EMI Strategy: Let's Check!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Century Gothic"/>
              </a:defRPr>
            </a:pPr>
            <a:r>
              <a:t>Join the Mentimeter! (Questions 1-3)</a:t>
            </a:r>
          </a:p>
          <a:p>
            <a:pPr>
              <a:defRPr sz="2400" b="1">
                <a:solidFill>
                  <a:srgbClr val="DCDCDC"/>
                </a:solidFill>
                <a:latin typeface="Century Gothic"/>
              </a:defRPr>
            </a:pPr>
            <a:r>
              <a:t>Q1: What are the three V's of Big Data mentioned in the video?</a:t>
            </a:r>
          </a:p>
          <a:p>
            <a:pPr lvl="1">
              <a:defRPr sz="2000" b="0">
                <a:solidFill>
                  <a:srgbClr val="00CCFF"/>
                </a:solidFill>
                <a:latin typeface="Century Gothic"/>
              </a:defRPr>
            </a:pPr>
            <a:r>
              <a:t>A) Video, Vision, Value | B) Volume, Velocity, Variety | C) Virtual, Vector, Volume</a:t>
            </a:r>
          </a:p>
          <a:p>
            <a:pPr>
              <a:defRPr sz="2400" b="1">
                <a:solidFill>
                  <a:srgbClr val="DCDCDC"/>
                </a:solidFill>
                <a:latin typeface="Century Gothic"/>
              </a:defRPr>
            </a:pPr>
            <a:r>
              <a:t>Q2: What is the first component of Data Science according to the video?</a:t>
            </a:r>
          </a:p>
          <a:p>
            <a:pPr lvl="1">
              <a:defRPr sz="2000" b="0">
                <a:solidFill>
                  <a:srgbClr val="00CCFF"/>
                </a:solidFill>
                <a:latin typeface="Century Gothic"/>
              </a:defRPr>
            </a:pPr>
            <a:r>
              <a:t>A) Domain expertise and scientific methods | B) Buying hardware | C) Writing blog posts</a:t>
            </a:r>
          </a:p>
          <a:p>
            <a:pPr>
              <a:defRPr sz="2400" b="1">
                <a:solidFill>
                  <a:srgbClr val="DCDCDC"/>
                </a:solidFill>
                <a:latin typeface="Century Gothic"/>
              </a:defRPr>
            </a:pPr>
            <a:r>
              <a:t>Q3: What does 'Velocity' refer to in Big Data?</a:t>
            </a:r>
          </a:p>
          <a:p>
            <a:pPr lvl="1">
              <a:defRPr sz="2000" b="0">
                <a:solidFill>
                  <a:srgbClr val="00CCFF"/>
                </a:solidFill>
                <a:latin typeface="Century Gothic"/>
              </a:defRPr>
            </a:pPr>
            <a:r>
              <a:t>A) The speed of the computer | B) Huge amounts of data flowing at a tremendous speed | C) Typing skills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FFCC"/>
                </a:solidFill>
                <a:latin typeface="Century Gothic"/>
              </a:rPr>
              <a:t>🇬🇧 EMI Strategy: Let's Check!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Century Gothic"/>
              </a:defRPr>
            </a:pPr>
            <a:r>
              <a:t>Join the Mentimeter! (Questions 4-5)</a:t>
            </a:r>
          </a:p>
          <a:p>
            <a:pPr>
              <a:defRPr sz="2400" b="1">
                <a:solidFill>
                  <a:srgbClr val="DCDCDC"/>
                </a:solidFill>
                <a:latin typeface="Century Gothic"/>
              </a:defRPr>
            </a:pPr>
            <a:r>
              <a:t>Q4: What helps provide insights by building and running automated models?</a:t>
            </a:r>
          </a:p>
          <a:p>
            <a:pPr lvl="1">
              <a:defRPr sz="2000" b="0">
                <a:solidFill>
                  <a:srgbClr val="00CCFF"/>
                </a:solidFill>
                <a:latin typeface="Century Gothic"/>
              </a:defRPr>
            </a:pPr>
            <a:r>
              <a:t>A) Machine Learning | B) Data Cleansing | C) Web Design</a:t>
            </a:r>
          </a:p>
          <a:p>
            <a:pPr>
              <a:defRPr sz="2400" b="1">
                <a:solidFill>
                  <a:srgbClr val="DCDCDC"/>
                </a:solidFill>
                <a:latin typeface="Century Gothic"/>
              </a:defRPr>
            </a:pPr>
            <a:r>
              <a:t>Q5: (Word Cloud) Write one format of Big Data mentioned in the video!</a:t>
            </a:r>
          </a:p>
          <a:p>
            <a:pPr lvl="1">
              <a:defRPr sz="2000" b="0">
                <a:solidFill>
                  <a:srgbClr val="00CCFF"/>
                </a:solidFill>
                <a:latin typeface="Century Gothic"/>
              </a:defRPr>
            </a:pPr>
            <a:r>
              <a:t>Example: Structured, Semi-structured, Unstructured, JSON, XML...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s_github_1785838801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FFCC"/>
                </a:solidFill>
                <a:latin typeface="Century Gothic"/>
              </a:rPr>
              <a:t>Herramientas Tecnológicas: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¿Por qué GitHub?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Es el portafolio profesional estándar para código.</a:t>
            </a:r>
          </a:p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Paso a paso: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1. Ingresa a github.com.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2. Haz clic en 'Sign Up' y usa tu correo institucional.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3. Personaliza tu perfil (Foto, Bio).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s_ai_17858388107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FFCC"/>
                </a:solidFill>
                <a:latin typeface="Century Gothic"/>
              </a:rPr>
              <a:t>Herramientas Tecnológicas: LLMNotebook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Asistencia con Inteligencia Artificial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Usaremos IA para acelerar el aprendizaje, no para reemplazarlo.</a:t>
            </a:r>
          </a:p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Paso a paso: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1. Accede a la plataforma indicada.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2. Formula un 'prompt' efectivo (Contexto + Tarea + Formato).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3. Analiza críticamente; tú eres el piloto, la IA es el copiloto.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FFCC"/>
                </a:solidFill>
                <a:latin typeface="Century Gothic"/>
              </a:rPr>
              <a:t>Actividad Central: El Futuro del Científico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Century Gothic"/>
              </a:defRPr>
            </a:pPr>
            <a:r>
              <a:t>Objetivo: Analizar reportes clave (Donoho, WEF, Stanford AI).</a:t>
            </a:r>
          </a:p>
          <a:p>
            <a:pPr>
              <a:defRPr sz="2400" b="1">
                <a:solidFill>
                  <a:srgbClr val="00CCFF"/>
                </a:solidFill>
                <a:latin typeface="Century Gothic"/>
              </a:defRPr>
            </a:pPr>
            <a:r>
              <a:t>Dinámica en grupos: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Distribuyan los documentos y usen LLMNotebook para sintetizar información.</a:t>
            </a:r>
          </a:p>
          <a:p>
            <a:pPr>
              <a:defRPr sz="2400" b="1">
                <a:solidFill>
                  <a:srgbClr val="00CCFF"/>
                </a:solidFill>
                <a:latin typeface="Century Gothic"/>
              </a:defRPr>
            </a:pPr>
            <a:r>
              <a:t>Entregables de la exposición: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1. Resumen visual: Diapositiva/infografía con puntos clave.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2. Conexión práctica: Un ejemplo real del mercado laboral.</a:t>
            </a:r>
          </a:p>
          <a:p>
            <a:pPr lvl="1">
              <a:defRPr sz="2400" b="0">
                <a:solidFill>
                  <a:srgbClr val="DCDCDC"/>
                </a:solidFill>
                <a:latin typeface="Century Gothic"/>
              </a:defRPr>
            </a:pPr>
            <a:r>
              <a:t>3. Dato de Impacto: Algo que los haya sorprendido genuinamente.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FFCC"/>
                </a:solidFill>
                <a:latin typeface="Century Gothic"/>
              </a:rPr>
              <a:t>Sustentaciones: Reglas de Juego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Lineamientos:</a:t>
            </a:r>
          </a:p>
          <a:p>
            <a:pPr lvl="1">
              <a:defRPr sz="2800" b="0">
                <a:solidFill>
                  <a:srgbClr val="DCDCDC"/>
                </a:solidFill>
                <a:latin typeface="Century Gothic"/>
              </a:defRPr>
            </a:pPr>
            <a:r>
              <a:t>Tiempo: 15 minutos exactos por grupo.</a:t>
            </a:r>
          </a:p>
          <a:p>
            <a:pPr lvl="1">
              <a:defRPr sz="2800" b="0">
                <a:solidFill>
                  <a:srgbClr val="DCDCDC"/>
                </a:solidFill>
                <a:latin typeface="Century Gothic"/>
              </a:defRPr>
            </a:pPr>
            <a:r>
              <a:t>Dinámica: Participación equitativa y dominio del tema.</a:t>
            </a:r>
          </a:p>
          <a:p>
            <a:pPr lvl="1">
              <a:defRPr sz="2800" b="0">
                <a:solidFill>
                  <a:srgbClr val="DCDCDC"/>
                </a:solidFill>
                <a:latin typeface="Century Gothic"/>
              </a:defRPr>
            </a:pPr>
            <a:r>
              <a:t>Feedback: Preguntas cruzadas y co-evaluación al final.</a:t>
            </a:r>
          </a:p>
          <a:p>
            <a:br/>
            <a:pPr>
              <a:defRPr sz="4000" b="1">
                <a:solidFill>
                  <a:srgbClr val="00FFCC"/>
                </a:solidFill>
                <a:latin typeface="Century Gothic"/>
              </a:defRPr>
            </a:pPr>
            <a:r>
              <a:t>¡Manos a la obra!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